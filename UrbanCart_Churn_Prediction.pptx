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7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8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73683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840480" cy="3840480"/>
          </a:xfrm>
          <a:prstGeom prst="ellipse">
            <a:avLst/>
          </a:prstGeom>
          <a:solidFill>
            <a:srgbClr val="27368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40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E4572E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UrbanCart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Predicting Customer Churn Before It Happens</a:t>
            </a:r>
            <a:endParaRPr lang="en-US" sz="4000" dirty="0">
              <a:latin typeface="Gill Sans MT" panose="020B0502020104020203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4389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A cost-aware classification model to flag at-risk customers early enough for the retention team to act</a:t>
            </a:r>
            <a:endParaRPr lang="en-US" sz="2000" dirty="0">
              <a:latin typeface="Gill Sans MT" panose="020B0502020104020203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B96C9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Obinna Muonanu | </a:t>
            </a:r>
            <a:r>
              <a:rPr lang="en-US" sz="2000" dirty="0" err="1">
                <a:solidFill>
                  <a:srgbClr val="8B96C9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TeSA</a:t>
            </a:r>
            <a:r>
              <a:rPr lang="en-US" sz="2000" dirty="0">
                <a:solidFill>
                  <a:srgbClr val="8B96C9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 AI Specialization</a:t>
            </a:r>
            <a:endParaRPr lang="en-US" sz="2000" dirty="0"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The Problem &amp; The Data</a:t>
            </a:r>
            <a:endParaRPr lang="en-US" sz="3000" dirty="0">
              <a:latin typeface="Gill Sans MT" panose="020B0502020104020203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89204" y="9829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Churn was only visible in hindsight. By the monthly report, at-risk customers were already gone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8899BB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81051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~20,000</a:t>
            </a:r>
            <a:endParaRPr lang="en-US" sz="3000" dirty="0">
              <a:latin typeface="Gill Sans MT" panose="020B0502020104020203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57200" y="2468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200" dirty="0">
              <a:latin typeface="Gill Sans MT" panose="020B050202010402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8899BB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291840" y="181051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>
              <a:latin typeface="Gill Sans MT" panose="020B0502020104020203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291840" y="2468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behavioral features</a:t>
            </a:r>
            <a:endParaRPr lang="en-US" sz="1200" dirty="0">
              <a:latin typeface="Gill Sans MT" panose="020B050202010402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8899BB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126480" y="181051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7.8%</a:t>
            </a:r>
            <a:endParaRPr lang="en-US" sz="3000" dirty="0">
              <a:latin typeface="Gill Sans MT" panose="020B0502020104020203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126480" y="2468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churn rate (class 1)</a:t>
            </a:r>
            <a:endParaRPr lang="en-US" sz="1200" dirty="0">
              <a:latin typeface="Gill Sans MT" panose="020B0502020104020203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  <a:effectLst>
            <a:outerShdw blurRad="76200" dist="25400" dir="5400000" algn="bl" rotWithShape="0">
              <a:srgbClr val="8899BB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961120" y="181051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>
              <a:latin typeface="Gill Sans MT" panose="020B0502020104020203" pitchFamily="3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961120" y="2468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missing values / duplicates</a:t>
            </a:r>
            <a:endParaRPr lang="en-US" sz="1200" dirty="0">
              <a:latin typeface="Gill Sans MT" panose="020B0502020104020203" pitchFamily="34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57200" y="3383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Features collected per customer</a:t>
            </a:r>
            <a:endParaRPr lang="en-US" sz="2000" dirty="0">
              <a:latin typeface="Gill Sans MT" panose="020B0502020104020203" pitchFamily="34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57200" y="3931921"/>
            <a:ext cx="5669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MonthsActive — tenure with UrbanCart</a:t>
            </a:r>
            <a:endParaRPr lang="en-US" dirty="0">
              <a:latin typeface="Gill Sans MT" panose="020B0502020104020203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AvgOrderValue — typical spend per order</a:t>
            </a:r>
            <a:endParaRPr lang="en-US" dirty="0">
              <a:latin typeface="Gill Sans MT" panose="020B0502020104020203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NumOrdersLastQuarter — recent purchase frequency</a:t>
            </a:r>
            <a:endParaRPr lang="en-US" dirty="0">
              <a:latin typeface="Gill Sans MT" panose="020B0502020104020203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DaysSinceLastOrder — recency of last purchase</a:t>
            </a:r>
            <a:endParaRPr lang="en-US" dirty="0">
              <a:latin typeface="Gill Sans MT" panose="020B0502020104020203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SupportTicketsFiled — friction / dissatisfaction signal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492240" y="33832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Business goal</a:t>
            </a:r>
            <a:endParaRPr lang="en-US" sz="2000" dirty="0">
              <a:latin typeface="Gill Sans MT" panose="020B050202010402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92240" y="3794760"/>
            <a:ext cx="5239512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4023360"/>
            <a:ext cx="4617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Build and compare at least two models that can flag at-risk customers early and evaluated properly for the ~8% imbalance, since a model can look “accurate” while catching zero real churners.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Problem &amp; Data</a:t>
            </a:r>
            <a:endParaRPr lang="en-US" sz="1000" dirty="0">
              <a:latin typeface="Gill Sans MT" panose="020B050202010402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86800" y="6519672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UrbanCart Churn Prediction</a:t>
            </a:r>
            <a:endParaRPr lang="en-US" sz="1000" dirty="0"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What the Data Shows</a:t>
            </a:r>
            <a:endParaRPr lang="en-US" sz="3000" dirty="0">
              <a:latin typeface="Gill Sans MT" panose="020B0502020104020203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A severe class imbalance, and one standout behavioral signal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4" name="Image 0" descr="imgs/cell1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4206240" cy="4206240"/>
          </a:xfrm>
          <a:prstGeom prst="rect">
            <a:avLst/>
          </a:prstGeom>
        </p:spPr>
      </p:pic>
      <p:pic>
        <p:nvPicPr>
          <p:cNvPr id="5" name="Image 1" descr="imgs/cell21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737360"/>
            <a:ext cx="5486400" cy="3977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806440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F4F6FB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85800" y="58521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Only 7.8% of customers churned. Accuracy alone is misleading here</a:t>
            </a:r>
            <a:endParaRPr lang="en-US" sz="1600" dirty="0">
              <a:latin typeface="Gill Sans MT" panose="020B0502020104020203" pitchFamily="34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6309360" y="5806440"/>
            <a:ext cx="5486400" cy="621792"/>
          </a:xfrm>
          <a:prstGeom prst="roundRect">
            <a:avLst>
              <a:gd name="adj" fmla="val 8824"/>
            </a:avLst>
          </a:prstGeom>
          <a:solidFill>
            <a:srgbClr val="F4F6FB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46520" y="5852160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Churned customers had gone quiet ~2.4x longer (42 vs. 18 days)</a:t>
            </a:r>
            <a:endParaRPr lang="en-US" sz="1600" dirty="0">
              <a:latin typeface="Gill Sans MT" panose="020B0502020104020203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Insights — Exploratory Analysis</a:t>
            </a:r>
            <a:endParaRPr lang="en-US" sz="1000" dirty="0">
              <a:latin typeface="Gill Sans MT" panose="020B0502020104020203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686800" y="6519672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UrbanCart Churn Prediction</a:t>
            </a:r>
            <a:endParaRPr lang="en-US" sz="1000" dirty="0"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The Rest of the Picture</a:t>
            </a:r>
            <a:endParaRPr lang="en-US" sz="3000" dirty="0">
              <a:latin typeface="Gill Sans MT" panose="020B0502020104020203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Tenure, spend and order volume alone don’t separate churners from loyal customers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4" name="Image 0" descr="imgs/cell3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5120640" cy="43159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0" y="1691640"/>
            <a:ext cx="5806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MonthsActive, AvgOrderValue, NumOrdersLastQuarter, and SupportTicketsFiled show little to no difference between churned and loyal groups</a:t>
            </a:r>
            <a:endParaRPr lang="en-US" dirty="0">
              <a:latin typeface="Gill Sans MT" panose="020B0502020104020203" pitchFamily="34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AvgOrderValue and DaysSinceLastOrder are right-skewed with real (not erroneous) outliers which were kept in the data, but handled via robust scaling</a:t>
            </a:r>
            <a:endParaRPr lang="en-US" dirty="0">
              <a:latin typeface="Gill Sans MT" panose="020B0502020104020203" pitchFamily="34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No duplicates or missing values were found</a:t>
            </a:r>
            <a:endParaRPr lang="en-US" dirty="0">
              <a:latin typeface="Gill Sans MT" panose="020B0502020104020203" pitchFamily="34" charset="0"/>
            </a:endParaRPr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dirty="0">
                <a:solidFill>
                  <a:srgbClr val="1E2761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Engineered a recency_tenure_ratio feature (recency relative to tenure) that separates the two groups more clearly than recency alone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Insights — Exploratory Analysis</a:t>
            </a:r>
            <a:endParaRPr lang="en-US" sz="1000" dirty="0">
              <a:latin typeface="Gill Sans MT" panose="020B05020201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686800" y="6519672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UrbanCart Churn Prediction</a:t>
            </a:r>
            <a:endParaRPr lang="en-US" sz="1000" dirty="0"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Preprocessing — Feature Scaling</a:t>
            </a:r>
            <a:endParaRPr lang="en-US" sz="3000" dirty="0">
              <a:latin typeface="Gill Sans MT" panose="020B0502020104020203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RobustScaler, chosen specifically for this data’s outliers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Why RobustScaler?</a:t>
            </a:r>
            <a:endParaRPr lang="en-US" sz="2000" dirty="0">
              <a:latin typeface="Gill Sans MT" panose="020B0502020104020203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4754880" cy="212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It scales features using the median and interquartile range instead of the mean and standard deviation, so it isn’t distorted by the extreme, but valid, outliers in AvgOrderValue and DaysSinceLastOrder.</a:t>
            </a:r>
            <a:endParaRPr lang="en-US" sz="2000" dirty="0">
              <a:latin typeface="Gill Sans MT" panose="020B0502020104020203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51206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E4572E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Applied inside a pipeline (fit on train only) to avoid data leakage into validation and test.</a:t>
            </a:r>
            <a:endParaRPr lang="en-US" sz="1600" dirty="0">
              <a:latin typeface="Gill Sans MT" panose="020B0502020104020203" pitchFamily="3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172200" y="16916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StandardScaler vs. RobustScaler</a:t>
            </a:r>
            <a:endParaRPr lang="en-US" sz="2000" dirty="0">
              <a:latin typeface="Gill Sans MT" panose="020B0502020104020203" pitchFamily="34" charset="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884753"/>
              </p:ext>
            </p:extLst>
          </p:nvPr>
        </p:nvGraphicFramePr>
        <p:xfrm>
          <a:off x="6264667" y="2286000"/>
          <a:ext cx="5577840" cy="312724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RobustScaler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Centers 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by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Std. deviation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Interquartile range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to outliers?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 for this dataset?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Risky because of skewed features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000" dirty="0">
              <a:latin typeface="Gill Sans MT" panose="020B0502020104020203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686800" y="6519672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UrbanCart Churn Prediction</a:t>
            </a:r>
            <a:endParaRPr lang="en-US" sz="1000" dirty="0"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Preprocessing — Handling Class Imbalance</a:t>
            </a:r>
            <a:endParaRPr lang="en-US" sz="3000" dirty="0">
              <a:latin typeface="Gill Sans MT" panose="020B0502020104020203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Class weighting over resampling, then tuned against a real business cost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5564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Considered: resampling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85800" y="2121408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Random oversampling risks memorizing duplicated churn records; SMOTE can synthesize unrealistic “customers” that never actually existed. Neither was used.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73075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Chosen: class weighting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85800" y="4096512"/>
            <a:ext cx="4983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Keeps training data 100% real. The loss function penalizes missed churners more heavily, forcing the model to learn the minority class’s real patterns.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10" name="Image 0" descr="imgs/ratio_precision_recall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00200"/>
            <a:ext cx="5623560" cy="354787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126480" y="5193792"/>
            <a:ext cx="5623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As the churn class weight rises, recall climbs and precision falls; total cost keeps dropping past the 20% precision floor, so the ratio (6.04) at that floor minimizes cost without flooding the team with false alarms.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000" dirty="0">
              <a:latin typeface="Gill Sans MT" panose="020B0502020104020203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686800" y="6519672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UrbanCart Churn Prediction</a:t>
            </a:r>
            <a:endParaRPr lang="en-US" sz="1000" dirty="0"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Model Development</a:t>
            </a:r>
            <a:endParaRPr lang="en-US" sz="3000" dirty="0">
              <a:latin typeface="Gill Sans MT" panose="020B0502020104020203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Two models compared under a shared, cost-aware evaluation framework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1051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Why not Accuracy?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85800" y="224028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~93% accuracy by predicting “not churned” for everyone, which is useless to the retention team.</a:t>
            </a:r>
            <a:endParaRPr lang="en-US" sz="1600" dirty="0">
              <a:latin typeface="Gill Sans MT" panose="020B050202010402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51960" y="1645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80560" y="181051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Metric used: PR-AUC</a:t>
            </a:r>
            <a:endParaRPr lang="en-US" sz="1600" dirty="0">
              <a:latin typeface="Gill Sans MT" panose="020B0502020104020203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480560" y="224028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Captures the precision–recall tradeoff across all thresholds; ignores the flood of easy true negatives that inflate ROC-AUC</a:t>
            </a:r>
            <a:r>
              <a:rPr lang="en-US" sz="12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>
              <a:latin typeface="Gill Sans MT" panose="020B050202010402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181051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Recall &gt; Precision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75320" y="2139696"/>
            <a:ext cx="3230880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A missed churner (false negative) costs far more than a wasted outreach (false positive), so recall is prioritized within a 20% precision floor.</a:t>
            </a:r>
            <a:endParaRPr lang="en-US" sz="1600" dirty="0">
              <a:latin typeface="Gill Sans MT" panose="020B0502020104020203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5720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Models compared</a:t>
            </a:r>
            <a:endParaRPr lang="en-US" dirty="0">
              <a:latin typeface="Gill Sans MT" panose="020B0502020104020203" pitchFamily="34" charset="0"/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36755"/>
              </p:ext>
            </p:extLst>
          </p:nvPr>
        </p:nvGraphicFramePr>
        <p:xfrm>
          <a:off x="457200" y="4297680"/>
          <a:ext cx="11274552" cy="1737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6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6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6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RobustScaler + tuned class weight, threshold selected within cost sweep</a:t>
                      </a:r>
                      <a:endParaRPr lang="en-US" sz="16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Selected — higher recall at the 20% precision cap</a:t>
                      </a:r>
                      <a:endParaRPr lang="en-US" sz="16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6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Equivalent class weight (scale_pos_weight), thresholds 0.3–0.7</a:t>
                      </a:r>
                      <a:endParaRPr lang="en-US" sz="16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Underperformed — likely limited by the small feature set</a:t>
                      </a:r>
                      <a:endParaRPr lang="en-US" sz="16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000" dirty="0">
              <a:latin typeface="Gill Sans MT" panose="020B0502020104020203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686800" y="6519672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UrbanCart Churn Prediction</a:t>
            </a:r>
            <a:endParaRPr lang="en-US" sz="1000" dirty="0"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Model Results — Validation &amp; Test</a:t>
            </a:r>
            <a:endParaRPr lang="en-US" sz="3000" dirty="0">
              <a:latin typeface="Gill Sans MT" panose="020B0502020104020203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Final Logistic Regression, evaluated at the chosen decision threshold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4" name="Image 0" descr="imgs/cell7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7406640" cy="3035808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120922"/>
              </p:ext>
            </p:extLst>
          </p:nvPr>
        </p:nvGraphicFramePr>
        <p:xfrm>
          <a:off x="8229600" y="1783080"/>
          <a:ext cx="3502152" cy="284683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Metric (churn class)</a:t>
                      </a:r>
                      <a:endParaRPr lang="en-US" sz="12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2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1E2761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6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E2761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6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E2761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16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1E2761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6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E2761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58%</a:t>
                      </a:r>
                      <a:endParaRPr lang="en-US" sz="16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E2761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61%</a:t>
                      </a:r>
                      <a:endParaRPr lang="en-US" sz="16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 err="1">
                          <a:solidFill>
                            <a:srgbClr val="1E2761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Fbeta</a:t>
                      </a:r>
                      <a:r>
                        <a:rPr lang="en-US" sz="1600" dirty="0">
                          <a:solidFill>
                            <a:srgbClr val="1E2761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-score</a:t>
                      </a:r>
                      <a:endParaRPr lang="en-US" sz="16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6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E2761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6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1E2761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Overall accuracy</a:t>
                      </a:r>
                      <a:endParaRPr lang="en-US" sz="16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rgbClr val="1E2761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16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761"/>
                          </a:solidFill>
                          <a:latin typeface="Gill Sans MT" panose="020B0502020104020203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1600" dirty="0">
                        <a:latin typeface="Gill Sans MT" panose="020B0502020104020203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983480"/>
            <a:ext cx="11183112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68680" y="5138928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Test performance (61% recall, 22% precision) is slightly better than validation, confirming the model is not overfit to the validation set.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1000" dirty="0">
              <a:latin typeface="Gill Sans MT" panose="020B0502020104020203" pitchFamily="34" charset="0"/>
            </a:endParaRPr>
          </a:p>
        </p:txBody>
      </p:sp>
      <p:sp>
        <p:nvSpPr>
          <p:cNvPr id="5" name="Text 5"/>
          <p:cNvSpPr/>
          <p:nvPr/>
        </p:nvSpPr>
        <p:spPr>
          <a:xfrm>
            <a:off x="8686800" y="6519672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UrbanCart Churn Prediction</a:t>
            </a:r>
            <a:endParaRPr lang="en-US" sz="1000" dirty="0"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What Drives the Model</a:t>
            </a:r>
            <a:endParaRPr lang="en-US" sz="3000" dirty="0">
              <a:latin typeface="Gill Sans MT" panose="020B0502020104020203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Feature importance and the precision–recall tradeoff behind the chosen threshold</a:t>
            </a:r>
            <a:endParaRPr lang="en-US" dirty="0">
              <a:latin typeface="Gill Sans MT" panose="020B0502020104020203" pitchFamily="34" charset="0"/>
            </a:endParaRPr>
          </a:p>
        </p:txBody>
      </p:sp>
      <p:pic>
        <p:nvPicPr>
          <p:cNvPr id="4" name="Image 0" descr="imgs/cell7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5943600" cy="3566160"/>
          </a:xfrm>
          <a:prstGeom prst="rect">
            <a:avLst/>
          </a:prstGeom>
        </p:spPr>
      </p:pic>
      <p:pic>
        <p:nvPicPr>
          <p:cNvPr id="5" name="Image 1" descr="imgs/cell74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645920"/>
            <a:ext cx="5029200" cy="42062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5349240"/>
            <a:ext cx="594360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85800" y="544068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SupportTicketsFiled, recency_tenure_ratio and DaysSinceLastOrder push predictions toward churn; MonthsActive and order volume push the other way.</a:t>
            </a:r>
            <a:endParaRPr lang="en-US" sz="1600" dirty="0">
              <a:latin typeface="Gill Sans MT" panose="020B0502020104020203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1000" dirty="0">
              <a:latin typeface="Gill Sans MT" panose="020B0502020104020203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686800" y="6519672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UrbanCart Churn Prediction</a:t>
            </a:r>
            <a:endParaRPr lang="en-US" sz="1000" dirty="0"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Business Impact &amp; Recommendation</a:t>
            </a:r>
            <a:endParaRPr lang="en-US" sz="3000" dirty="0">
              <a:latin typeface="Gill Sans MT" panose="020B0502020104020203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Per 3,000 customers scored, at the chosen 20% precision / 61% recall operating point</a:t>
            </a:r>
            <a:endParaRPr lang="en-US" sz="1600" dirty="0">
              <a:latin typeface="Gill Sans MT" panose="020B05020201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27368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9659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4572E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~250</a:t>
            </a:r>
            <a:endParaRPr lang="en-US" sz="3000" dirty="0">
              <a:latin typeface="Gill Sans MT" panose="020B0502020104020203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94360" y="2697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customers actually churn</a:t>
            </a:r>
            <a:endParaRPr lang="en-US" sz="1600" dirty="0">
              <a:latin typeface="Gill Sans MT" panose="020B050202010402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91840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27368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91840" y="19659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CAF50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~152</a:t>
            </a:r>
            <a:endParaRPr lang="en-US" sz="3000" dirty="0">
              <a:latin typeface="Gill Sans MT" panose="020B0502020104020203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429000" y="2697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correctly flagged (61%)</a:t>
            </a:r>
            <a:endParaRPr lang="en-US" sz="1600" dirty="0">
              <a:latin typeface="Gill Sans MT" panose="020B050202010402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27368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9659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4572E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~98</a:t>
            </a:r>
            <a:endParaRPr lang="en-US" sz="3000" dirty="0">
              <a:latin typeface="Gill Sans MT" panose="020B0502020104020203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263640" y="2697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Missed, the costly errors</a:t>
            </a:r>
            <a:endParaRPr lang="en-US" sz="1600" dirty="0">
              <a:latin typeface="Gill Sans MT" panose="020B0502020104020203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961120" y="1783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27368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61120" y="19659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ADCFC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~550</a:t>
            </a:r>
            <a:endParaRPr lang="en-US" sz="3000" dirty="0">
              <a:latin typeface="Gill Sans MT" panose="020B0502020104020203" pitchFamily="3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098280" y="26974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false alarms, within team capacity</a:t>
            </a:r>
            <a:endParaRPr lang="en-US" sz="1600" dirty="0">
              <a:latin typeface="Gill Sans MT" panose="020B0502020104020203" pitchFamily="34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5720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4572E"/>
                </a:solidFill>
                <a:latin typeface="Gill Sans MT" panose="020B0502020104020203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dirty="0">
              <a:latin typeface="Gill Sans MT" panose="020B0502020104020203" pitchFamily="34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57200" y="4160520"/>
            <a:ext cx="10972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Deploy the Logistic Regression model to flag customers weekly using DaysSinceLastOrder, recency_tenure_ratio, and SupportTicketsFiled as the leading signals</a:t>
            </a:r>
            <a:endParaRPr lang="en-US" sz="1600" dirty="0">
              <a:latin typeface="Gill Sans MT" panose="020B0502020104020203" pitchFamily="34" charset="0"/>
            </a:endParaRPr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Operate at the tuned threshold (20% precision floor), optimizing for accuracy or precision alone would let far more expensive churners slip through undetected</a:t>
            </a:r>
            <a:endParaRPr lang="en-US" sz="1600" dirty="0">
              <a:latin typeface="Gill Sans MT" panose="020B0502020104020203" pitchFamily="34" charset="0"/>
            </a:endParaRPr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Revisit with richer features, the limited feature set likely caps current performance, and explains why XGBoost underperformed Logistic Regression</a:t>
            </a:r>
            <a:endParaRPr lang="en-US" sz="1600" dirty="0">
              <a:latin typeface="Gill Sans MT" panose="020B050202010402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Business Impact &amp; Recommendation</a:t>
            </a:r>
            <a:endParaRPr lang="en-US" sz="1000" dirty="0">
              <a:latin typeface="Gill Sans MT" panose="020B0502020104020203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86800" y="6519672"/>
            <a:ext cx="3044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Gill Sans MT" panose="020B0502020104020203" pitchFamily="34" charset="0"/>
                <a:ea typeface="Calibri" pitchFamily="34" charset="-122"/>
                <a:cs typeface="Calibri" pitchFamily="34" charset="-120"/>
              </a:rPr>
              <a:t>UrbanCart Churn Prediction</a:t>
            </a:r>
            <a:endParaRPr lang="en-US" sz="1000" dirty="0"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929</Words>
  <Application>Microsoft Office PowerPoint</Application>
  <PresentationFormat>Widescreen</PresentationFormat>
  <Paragraphs>140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Obinna Muonanu</cp:lastModifiedBy>
  <cp:revision>4</cp:revision>
  <dcterms:created xsi:type="dcterms:W3CDTF">2026-09-21T04:17:48Z</dcterms:created>
  <dcterms:modified xsi:type="dcterms:W3CDTF">2026-09-21T14:51:34Z</dcterms:modified>
</cp:coreProperties>
</file>