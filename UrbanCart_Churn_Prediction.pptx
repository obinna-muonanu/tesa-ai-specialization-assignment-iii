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6" d="100"/>
          <a:sy n="66" d="100"/>
        </p:scale>
        <p:origin x="64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8799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273683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937760"/>
            <a:ext cx="3840480" cy="3840480"/>
          </a:xfrm>
          <a:prstGeom prst="ellipse">
            <a:avLst/>
          </a:prstGeom>
          <a:solidFill>
            <a:srgbClr val="273683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240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300" dirty="0">
                <a:solidFill>
                  <a:srgbClr val="E4572E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UrbanCart</a:t>
            </a:r>
            <a:endParaRPr lang="en-US" sz="2400" dirty="0">
              <a:latin typeface="Gill Sans MT" panose="020B0502020104020203" pitchFamily="34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822960" y="278892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ill Sans MT" panose="020B0502020104020203" pitchFamily="34" charset="0"/>
                <a:ea typeface="Cambria" pitchFamily="34" charset="-122"/>
                <a:cs typeface="Cambria" pitchFamily="34" charset="-120"/>
              </a:rPr>
              <a:t>Predicting Customer Churn Before It Happens</a:t>
            </a:r>
            <a:endParaRPr lang="en-US" sz="4000" dirty="0">
              <a:latin typeface="Gill Sans MT" panose="020B0502020104020203" pitchFamily="34" charset="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822960" y="438912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CADCFC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A cost-aware classification model to flag at-risk customers early enough for the retention team to act</a:t>
            </a:r>
            <a:endParaRPr lang="en-US" sz="2000" dirty="0">
              <a:latin typeface="Gill Sans MT" panose="020B0502020104020203" pitchFamily="34" charset="0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822960" y="6126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B96C9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Obinna Muonanu | </a:t>
            </a:r>
            <a:r>
              <a:rPr lang="en-US" sz="1600" dirty="0" err="1">
                <a:solidFill>
                  <a:srgbClr val="8B96C9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TeSA</a:t>
            </a:r>
            <a:r>
              <a:rPr lang="en-US" sz="1600" dirty="0">
                <a:solidFill>
                  <a:srgbClr val="8B96C9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 AI Specialization</a:t>
            </a:r>
            <a:endParaRPr lang="en-US" sz="1600" dirty="0">
              <a:latin typeface="Gill Sans MT" panose="020B0502020104020203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Gill Sans MT" panose="020B0502020104020203" pitchFamily="34" charset="0"/>
                <a:ea typeface="Cambria" pitchFamily="34" charset="-122"/>
                <a:cs typeface="Cambria" pitchFamily="34" charset="-120"/>
              </a:rPr>
              <a:t>The Problem &amp; The Data</a:t>
            </a:r>
            <a:endParaRPr lang="en-US" sz="3000" dirty="0">
              <a:latin typeface="Gill Sans MT" panose="020B0502020104020203" pitchFamily="34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89204" y="98298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5B6270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Churn was only visible in hindsight. By the monthly report, at-risk customers were already gone</a:t>
            </a:r>
            <a:endParaRPr lang="en-US" dirty="0">
              <a:latin typeface="Gill Sans MT" panose="020B0502020104020203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4F6FB"/>
          </a:solidFill>
          <a:ln/>
          <a:effectLst>
            <a:outerShdw blurRad="76200" dist="25400" dir="5400000" algn="bl" rotWithShape="0">
              <a:srgbClr val="8899BB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457200" y="1810512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2761"/>
                </a:solidFill>
                <a:latin typeface="Gill Sans MT" panose="020B0502020104020203" pitchFamily="34" charset="0"/>
                <a:ea typeface="Cambria" pitchFamily="34" charset="-122"/>
                <a:cs typeface="Cambria" pitchFamily="34" charset="-120"/>
              </a:rPr>
              <a:t>~20,000</a:t>
            </a:r>
            <a:endParaRPr lang="en-US" sz="3000" dirty="0">
              <a:latin typeface="Gill Sans MT" panose="020B0502020104020203" pitchFamily="34" charset="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457200" y="24688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270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customer records</a:t>
            </a:r>
            <a:endParaRPr lang="en-US" sz="1200" dirty="0">
              <a:latin typeface="Gill Sans MT" panose="020B0502020104020203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291840" y="16459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4F6FB"/>
          </a:solidFill>
          <a:ln/>
          <a:effectLst>
            <a:outerShdw blurRad="76200" dist="25400" dir="5400000" algn="bl" rotWithShape="0">
              <a:srgbClr val="8899BB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291840" y="1810512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2761"/>
                </a:solidFill>
                <a:latin typeface="Gill Sans MT" panose="020B0502020104020203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>
              <a:latin typeface="Gill Sans MT" panose="020B0502020104020203" pitchFamily="34" charset="0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3291840" y="24688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270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behavioral features</a:t>
            </a:r>
            <a:endParaRPr lang="en-US" sz="1200" dirty="0">
              <a:latin typeface="Gill Sans MT" panose="020B0502020104020203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126480" y="16459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4F6FB"/>
          </a:solidFill>
          <a:ln/>
          <a:effectLst>
            <a:outerShdw blurRad="76200" dist="25400" dir="5400000" algn="bl" rotWithShape="0">
              <a:srgbClr val="8899BB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126480" y="1810512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2761"/>
                </a:solidFill>
                <a:latin typeface="Gill Sans MT" panose="020B0502020104020203" pitchFamily="34" charset="0"/>
                <a:ea typeface="Cambria" pitchFamily="34" charset="-122"/>
                <a:cs typeface="Cambria" pitchFamily="34" charset="-120"/>
              </a:rPr>
              <a:t>7.8%</a:t>
            </a:r>
            <a:endParaRPr lang="en-US" sz="3000" dirty="0">
              <a:latin typeface="Gill Sans MT" panose="020B0502020104020203" pitchFamily="34" charset="0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126480" y="24688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270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churn rate (class 1)</a:t>
            </a:r>
            <a:endParaRPr lang="en-US" sz="1200" dirty="0">
              <a:latin typeface="Gill Sans MT" panose="020B0502020104020203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4F6FB"/>
          </a:solidFill>
          <a:ln/>
          <a:effectLst>
            <a:outerShdw blurRad="76200" dist="25400" dir="5400000" algn="bl" rotWithShape="0">
              <a:srgbClr val="8899BB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961120" y="1810512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2761"/>
                </a:solidFill>
                <a:latin typeface="Gill Sans MT" panose="020B0502020104020203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>
              <a:latin typeface="Gill Sans MT" panose="020B0502020104020203" pitchFamily="34" charset="0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8961120" y="24688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270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missing values / duplicates</a:t>
            </a:r>
            <a:endParaRPr lang="en-US" sz="1200" dirty="0">
              <a:latin typeface="Gill Sans MT" panose="020B0502020104020203" pitchFamily="34" charset="0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457200" y="33832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Gill Sans MT" panose="020B0502020104020203" pitchFamily="34" charset="0"/>
                <a:ea typeface="Cambria" pitchFamily="34" charset="-122"/>
                <a:cs typeface="Cambria" pitchFamily="34" charset="-120"/>
              </a:rPr>
              <a:t>Features collected per customer</a:t>
            </a:r>
            <a:endParaRPr lang="en-US" sz="2000" dirty="0">
              <a:latin typeface="Gill Sans MT" panose="020B0502020104020203" pitchFamily="34" charset="0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457200" y="3931921"/>
            <a:ext cx="56692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MonthsActive — tenure with UrbanCart</a:t>
            </a:r>
            <a:endParaRPr lang="en-US" dirty="0">
              <a:latin typeface="Gill Sans MT" panose="020B0502020104020203" pitchFamily="34" charset="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AvgOrderValue — typical spend per order</a:t>
            </a:r>
            <a:endParaRPr lang="en-US" dirty="0">
              <a:latin typeface="Gill Sans MT" panose="020B0502020104020203" pitchFamily="34" charset="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NumOrdersLastQuarter — recent purchase frequency</a:t>
            </a:r>
            <a:endParaRPr lang="en-US" dirty="0">
              <a:latin typeface="Gill Sans MT" panose="020B0502020104020203" pitchFamily="34" charset="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DaysSinceLastOrder — recency of last purchase</a:t>
            </a:r>
            <a:endParaRPr lang="en-US" dirty="0">
              <a:latin typeface="Gill Sans MT" panose="020B0502020104020203" pitchFamily="34" charset="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SupportTicketsFiled — friction / dissatisfaction signal</a:t>
            </a:r>
            <a:endParaRPr lang="en-US" dirty="0">
              <a:latin typeface="Gill Sans MT" panose="020B0502020104020203" pitchFamily="34" charset="0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6492240" y="338328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Gill Sans MT" panose="020B0502020104020203" pitchFamily="34" charset="0"/>
                <a:ea typeface="Cambria" pitchFamily="34" charset="-122"/>
                <a:cs typeface="Cambria" pitchFamily="34" charset="-120"/>
              </a:rPr>
              <a:t>Business goal</a:t>
            </a:r>
            <a:endParaRPr lang="en-US" sz="2000" dirty="0">
              <a:latin typeface="Gill Sans MT" panose="020B05020201040202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492240" y="3794760"/>
            <a:ext cx="5239512" cy="2286000"/>
          </a:xfrm>
          <a:prstGeom prst="roundRect">
            <a:avLst>
              <a:gd name="adj" fmla="val 3200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12280" y="4023360"/>
            <a:ext cx="4617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Build and compare at least two models that can flag at-risk customers early and evaluated properly for the ~8% imbalance, since a model can look “accurate” while catching zero real churners.</a:t>
            </a:r>
            <a:endParaRPr lang="en-US" dirty="0">
              <a:latin typeface="Gill Sans MT" panose="020B0502020104020203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270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Problem &amp; Data</a:t>
            </a:r>
            <a:endParaRPr lang="en-US" sz="1000" dirty="0">
              <a:latin typeface="Gill Sans MT" panose="020B0502020104020203" pitchFamily="3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686800" y="6519672"/>
            <a:ext cx="3044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UrbanCart Churn Prediction</a:t>
            </a:r>
            <a:endParaRPr lang="en-US" sz="1000" dirty="0">
              <a:latin typeface="Gill Sans MT" panose="020B0502020104020203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Gill Sans MT" panose="020B0502020104020203" pitchFamily="34" charset="0"/>
                <a:ea typeface="Cambria" pitchFamily="34" charset="-122"/>
                <a:cs typeface="Cambria" pitchFamily="34" charset="-120"/>
              </a:rPr>
              <a:t>What the Data Shows</a:t>
            </a:r>
            <a:endParaRPr lang="en-US" sz="3000" dirty="0">
              <a:latin typeface="Gill Sans MT" panose="020B0502020104020203" pitchFamily="34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5B6270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A severe class imbalance, and one standout behavioral signal</a:t>
            </a:r>
            <a:endParaRPr lang="en-US" dirty="0">
              <a:latin typeface="Gill Sans MT" panose="020B0502020104020203" pitchFamily="34" charset="0"/>
            </a:endParaRPr>
          </a:p>
        </p:txBody>
      </p:sp>
      <p:pic>
        <p:nvPicPr>
          <p:cNvPr id="4" name="Image 0" descr="imgs/cell11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4206240" cy="4206240"/>
          </a:xfrm>
          <a:prstGeom prst="rect">
            <a:avLst/>
          </a:prstGeom>
        </p:spPr>
      </p:pic>
      <p:pic>
        <p:nvPicPr>
          <p:cNvPr id="5" name="Image 1" descr="imgs/cell21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737360"/>
            <a:ext cx="5486400" cy="39776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5806440"/>
            <a:ext cx="4206240" cy="621792"/>
          </a:xfrm>
          <a:prstGeom prst="roundRect">
            <a:avLst>
              <a:gd name="adj" fmla="val 8824"/>
            </a:avLst>
          </a:prstGeom>
          <a:solidFill>
            <a:srgbClr val="F4F6FB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685800" y="5852160"/>
            <a:ext cx="3931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Only 7.8% of customers churned. Accuracy alone is misleading here</a:t>
            </a:r>
            <a:endParaRPr lang="en-US" sz="1600" dirty="0">
              <a:latin typeface="Gill Sans MT" panose="020B0502020104020203" pitchFamily="34" charset="0"/>
            </a:endParaRPr>
          </a:p>
        </p:txBody>
      </p:sp>
      <p:sp>
        <p:nvSpPr>
          <p:cNvPr id="8" name="Shape 4"/>
          <p:cNvSpPr/>
          <p:nvPr/>
        </p:nvSpPr>
        <p:spPr>
          <a:xfrm>
            <a:off x="6309360" y="5806440"/>
            <a:ext cx="5486400" cy="621792"/>
          </a:xfrm>
          <a:prstGeom prst="roundRect">
            <a:avLst>
              <a:gd name="adj" fmla="val 8824"/>
            </a:avLst>
          </a:prstGeom>
          <a:solidFill>
            <a:srgbClr val="F4F6FB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46520" y="5852160"/>
            <a:ext cx="5212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Churned customers had gone quiet ~2.4x longer (42 vs. 18 days)</a:t>
            </a:r>
            <a:endParaRPr lang="en-US" sz="1600" dirty="0">
              <a:latin typeface="Gill Sans MT" panose="020B0502020104020203" pitchFamily="34" charset="0"/>
            </a:endParaRPr>
          </a:p>
        </p:txBody>
      </p:sp>
      <p:sp>
        <p:nvSpPr>
          <p:cNvPr id="10" name="Text 6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270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Insights — Exploratory Analysis</a:t>
            </a:r>
            <a:endParaRPr lang="en-US" sz="1000" dirty="0">
              <a:latin typeface="Gill Sans MT" panose="020B0502020104020203" pitchFamily="34" charset="0"/>
            </a:endParaRPr>
          </a:p>
        </p:txBody>
      </p:sp>
      <p:sp>
        <p:nvSpPr>
          <p:cNvPr id="11" name="Text 7"/>
          <p:cNvSpPr/>
          <p:nvPr/>
        </p:nvSpPr>
        <p:spPr>
          <a:xfrm>
            <a:off x="8686800" y="6519672"/>
            <a:ext cx="3044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UrbanCart Churn Prediction</a:t>
            </a:r>
            <a:endParaRPr lang="en-US" sz="1000" dirty="0">
              <a:latin typeface="Gill Sans MT" panose="020B0502020104020203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Gill Sans MT" panose="020B0502020104020203" pitchFamily="34" charset="0"/>
                <a:ea typeface="Cambria" pitchFamily="34" charset="-122"/>
                <a:cs typeface="Cambria" pitchFamily="34" charset="-120"/>
              </a:rPr>
              <a:t>The Rest of the Picture</a:t>
            </a:r>
            <a:endParaRPr lang="en-US" sz="3000" dirty="0">
              <a:latin typeface="Gill Sans MT" panose="020B0502020104020203" pitchFamily="34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5B6270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Tenure, spend and order volume alone don’t separate churners from loyal customers</a:t>
            </a:r>
            <a:endParaRPr lang="en-US" dirty="0">
              <a:latin typeface="Gill Sans MT" panose="020B0502020104020203" pitchFamily="34" charset="0"/>
            </a:endParaRPr>
          </a:p>
        </p:txBody>
      </p:sp>
      <p:pic>
        <p:nvPicPr>
          <p:cNvPr id="4" name="Image 0" descr="imgs/cell38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54480"/>
            <a:ext cx="5120640" cy="43159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0" y="1691640"/>
            <a:ext cx="58064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MonthsActive, AvgOrderValue, NumOrdersLastQuarter, and SupportTicketsFiled show little to no difference between churned and loyal groups</a:t>
            </a:r>
            <a:endParaRPr lang="en-US" dirty="0">
              <a:latin typeface="Gill Sans MT" panose="020B0502020104020203" pitchFamily="34" charset="0"/>
            </a:endParaRPr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AvgOrderValue and DaysSinceLastOrder are right-skewed with real (not erroneous) outliers which were kept in the data, but handled via robust scaling</a:t>
            </a:r>
            <a:endParaRPr lang="en-US" dirty="0">
              <a:latin typeface="Gill Sans MT" panose="020B0502020104020203" pitchFamily="34" charset="0"/>
            </a:endParaRPr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No duplicates or missing values were found</a:t>
            </a:r>
            <a:endParaRPr lang="en-US" dirty="0">
              <a:latin typeface="Gill Sans MT" panose="020B0502020104020203" pitchFamily="34" charset="0"/>
            </a:endParaRPr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Engineered a recency_tenure_ratio feature (recency relative to tenure) that separates the two groups more clearly than recency alone</a:t>
            </a:r>
            <a:endParaRPr lang="en-US" dirty="0">
              <a:latin typeface="Gill Sans MT" panose="020B0502020104020203" pitchFamily="3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270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Insights — Exploratory Analysis</a:t>
            </a:r>
            <a:endParaRPr lang="en-US" sz="1000" dirty="0">
              <a:latin typeface="Gill Sans MT" panose="020B0502020104020203" pitchFamily="34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8686800" y="6519672"/>
            <a:ext cx="3044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UrbanCart Churn Prediction</a:t>
            </a:r>
            <a:endParaRPr lang="en-US" sz="1000" dirty="0">
              <a:latin typeface="Gill Sans MT" panose="020B0502020104020203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Gill Sans MT" panose="020B0502020104020203" pitchFamily="34" charset="0"/>
                <a:ea typeface="Cambria" pitchFamily="34" charset="-122"/>
                <a:cs typeface="Cambria" pitchFamily="34" charset="-120"/>
              </a:rPr>
              <a:t>Preprocessing — Feature Scaling</a:t>
            </a:r>
            <a:endParaRPr lang="en-US" sz="3000" dirty="0">
              <a:latin typeface="Gill Sans MT" panose="020B0502020104020203" pitchFamily="34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5B6270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RobustScaler, chosen specifically for this data’s outliers</a:t>
            </a:r>
            <a:endParaRPr lang="en-US" dirty="0">
              <a:latin typeface="Gill Sans MT" panose="020B0502020104020203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5394960" cy="4206240"/>
          </a:xfrm>
          <a:prstGeom prst="roundRect">
            <a:avLst>
              <a:gd name="adj" fmla="val 2174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ill Sans MT" panose="020B0502020104020203" pitchFamily="34" charset="0"/>
                <a:ea typeface="Cambria" pitchFamily="34" charset="-122"/>
                <a:cs typeface="Cambria" pitchFamily="34" charset="-120"/>
              </a:rPr>
              <a:t>Why RobustScaler?</a:t>
            </a:r>
            <a:endParaRPr lang="en-US" sz="2000" dirty="0">
              <a:latin typeface="Gill Sans MT" panose="020B0502020104020203" pitchFamily="34" charset="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77240" y="2377440"/>
            <a:ext cx="4754880" cy="2121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FC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It scales features using the median and interquartile range instead of the mean and standard deviation, so it isn’t distorted by the extreme, but valid, outliers in AvgOrderValue and DaysSinceLastOrder.</a:t>
            </a:r>
            <a:endParaRPr lang="en-US" sz="2000" dirty="0">
              <a:latin typeface="Gill Sans MT" panose="020B0502020104020203" pitchFamily="34" charset="0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777240" y="512064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rgbClr val="E4572E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Applied inside a pipeline (fit on train only) to avoid data leakage into validation and test.</a:t>
            </a:r>
            <a:endParaRPr lang="en-US" sz="1600" dirty="0">
              <a:latin typeface="Gill Sans MT" panose="020B0502020104020203" pitchFamily="34" charset="0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6172200" y="169164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Gill Sans MT" panose="020B0502020104020203" pitchFamily="34" charset="0"/>
                <a:ea typeface="Cambria" pitchFamily="34" charset="-122"/>
                <a:cs typeface="Cambria" pitchFamily="34" charset="-120"/>
              </a:rPr>
              <a:t>StandardScaler vs. RobustScaler</a:t>
            </a:r>
            <a:endParaRPr lang="en-US" sz="2000" dirty="0">
              <a:latin typeface="Gill Sans MT" panose="020B0502020104020203" pitchFamily="34" charset="0"/>
            </a:endParaRPr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4884753"/>
              </p:ext>
            </p:extLst>
          </p:nvPr>
        </p:nvGraphicFramePr>
        <p:xfrm>
          <a:off x="6264667" y="2286000"/>
          <a:ext cx="5577840" cy="3127248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StandardScaler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RobustScaler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Centers 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Scales by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Std. deviation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Interquartile range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Sensitive to outliers?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 for this dataset?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Risky because of skewed features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270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Data Preprocessing</a:t>
            </a:r>
            <a:endParaRPr lang="en-US" sz="1000" dirty="0">
              <a:latin typeface="Gill Sans MT" panose="020B0502020104020203" pitchFamily="34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8686800" y="6519672"/>
            <a:ext cx="3044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UrbanCart Churn Prediction</a:t>
            </a:r>
            <a:endParaRPr lang="en-US" sz="1000" dirty="0">
              <a:latin typeface="Gill Sans MT" panose="020B0502020104020203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Gill Sans MT" panose="020B0502020104020203" pitchFamily="34" charset="0"/>
                <a:ea typeface="Cambria" pitchFamily="34" charset="-122"/>
                <a:cs typeface="Cambria" pitchFamily="34" charset="-120"/>
              </a:rPr>
              <a:t>Preprocessing — Handling Class Imbalance</a:t>
            </a:r>
            <a:endParaRPr lang="en-US" sz="3000" dirty="0">
              <a:latin typeface="Gill Sans MT" panose="020B0502020104020203" pitchFamily="34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5B6270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Class weighting over resampling, then tuned against a real business cost</a:t>
            </a:r>
            <a:endParaRPr lang="en-US" dirty="0">
              <a:latin typeface="Gill Sans MT" panose="020B0502020104020203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755648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Gill Sans MT" panose="020B0502020104020203" pitchFamily="34" charset="0"/>
                <a:ea typeface="Cambria" pitchFamily="34" charset="-122"/>
                <a:cs typeface="Cambria" pitchFamily="34" charset="-120"/>
              </a:rPr>
              <a:t>Considered: resampling</a:t>
            </a:r>
            <a:endParaRPr lang="en-US" dirty="0">
              <a:latin typeface="Gill Sans MT" panose="020B0502020104020203" pitchFamily="34" charset="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85800" y="2121408"/>
            <a:ext cx="4983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solidFill>
                  <a:srgbClr val="5B6270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Random oversampling risks memorizing duplicated churn records; SMOTE can synthesize unrealistic “customers” that never actually existed. Neither was used.</a:t>
            </a:r>
            <a:endParaRPr lang="en-US" dirty="0">
              <a:latin typeface="Gill Sans MT" panose="020B0502020104020203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361188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3730752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Gill Sans MT" panose="020B0502020104020203" pitchFamily="34" charset="0"/>
                <a:ea typeface="Cambria" pitchFamily="34" charset="-122"/>
                <a:cs typeface="Cambria" pitchFamily="34" charset="-120"/>
              </a:rPr>
              <a:t>Chosen: class weighting</a:t>
            </a:r>
            <a:endParaRPr lang="en-US" dirty="0">
              <a:latin typeface="Gill Sans MT" panose="020B0502020104020203" pitchFamily="34" charset="0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85800" y="4096512"/>
            <a:ext cx="49834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solidFill>
                  <a:srgbClr val="CADCFC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Keeps training data 100% real. The loss function penalizes missed churners more heavily, forcing the model to learn the minority class’s real patterns.</a:t>
            </a:r>
            <a:endParaRPr lang="en-US" dirty="0">
              <a:latin typeface="Gill Sans MT" panose="020B0502020104020203" pitchFamily="34" charset="0"/>
            </a:endParaRPr>
          </a:p>
        </p:txBody>
      </p:sp>
      <p:pic>
        <p:nvPicPr>
          <p:cNvPr id="10" name="Image 0" descr="imgs/ratio_precision_recall_c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600200"/>
            <a:ext cx="5623560" cy="354787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126480" y="5193792"/>
            <a:ext cx="56235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i="1" dirty="0">
                <a:solidFill>
                  <a:srgbClr val="5B6270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As the churn class weight rises, recall climbs and precision falls; total cost keeps dropping past the 20% precision floor, so the ratio (6.04) at that floor minimizes cost without flooding the team with false alarms.</a:t>
            </a:r>
            <a:endParaRPr lang="en-US" dirty="0">
              <a:latin typeface="Gill Sans MT" panose="020B0502020104020203" pitchFamily="34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270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Data Preprocessing</a:t>
            </a:r>
            <a:endParaRPr lang="en-US" sz="1000" dirty="0">
              <a:latin typeface="Gill Sans MT" panose="020B0502020104020203" pitchFamily="34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686800" y="6519672"/>
            <a:ext cx="3044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UrbanCart Churn Prediction</a:t>
            </a:r>
            <a:endParaRPr lang="en-US" sz="1000" dirty="0">
              <a:latin typeface="Gill Sans MT" panose="020B0502020104020203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Gill Sans MT" panose="020B0502020104020203" pitchFamily="34" charset="0"/>
                <a:ea typeface="Cambria" pitchFamily="34" charset="-122"/>
                <a:cs typeface="Cambria" pitchFamily="34" charset="-120"/>
              </a:rPr>
              <a:t>Model Development</a:t>
            </a:r>
            <a:endParaRPr lang="en-US" sz="3000" dirty="0">
              <a:latin typeface="Gill Sans MT" panose="020B0502020104020203" pitchFamily="34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5B6270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Two models compared under a shared, cost-aware evaluation framework</a:t>
            </a:r>
            <a:endParaRPr lang="en-US" dirty="0">
              <a:latin typeface="Gill Sans MT" panose="020B0502020104020203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4F6F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810512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Gill Sans MT" panose="020B0502020104020203" pitchFamily="34" charset="0"/>
                <a:ea typeface="Cambria" pitchFamily="34" charset="-122"/>
                <a:cs typeface="Cambria" pitchFamily="34" charset="-120"/>
              </a:rPr>
              <a:t>Why not Accuracy?</a:t>
            </a:r>
            <a:endParaRPr lang="en-US" dirty="0">
              <a:latin typeface="Gill Sans MT" panose="020B0502020104020203" pitchFamily="34" charset="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85800" y="2240280"/>
            <a:ext cx="31546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270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~93% accuracy by predicting “not churned” for everyone, which is useless to the retention team.</a:t>
            </a:r>
            <a:endParaRPr lang="en-US" sz="1600" dirty="0">
              <a:latin typeface="Gill Sans MT" panose="020B0502020104020203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251960" y="164592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4F6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480560" y="1810512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Gill Sans MT" panose="020B0502020104020203" pitchFamily="34" charset="0"/>
                <a:ea typeface="Cambria" pitchFamily="34" charset="-122"/>
                <a:cs typeface="Cambria" pitchFamily="34" charset="-120"/>
              </a:rPr>
              <a:t>Metric used: PR-AUC</a:t>
            </a:r>
            <a:endParaRPr lang="en-US" sz="1600" dirty="0">
              <a:latin typeface="Gill Sans MT" panose="020B0502020104020203" pitchFamily="34" charset="0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4480560" y="2240280"/>
            <a:ext cx="31546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270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Captures the precision–recall tradeoff across all thresholds; ignores the flood of easy true negatives that inflate ROC-AUC</a:t>
            </a:r>
            <a:r>
              <a:rPr lang="en-US" sz="1200" dirty="0">
                <a:solidFill>
                  <a:srgbClr val="5B6270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>
              <a:latin typeface="Gill Sans MT" panose="020B0502020104020203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046720" y="164592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4F6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75320" y="1810512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Gill Sans MT" panose="020B0502020104020203" pitchFamily="34" charset="0"/>
                <a:ea typeface="Cambria" pitchFamily="34" charset="-122"/>
                <a:cs typeface="Cambria" pitchFamily="34" charset="-120"/>
              </a:rPr>
              <a:t>Recall &gt; Precision</a:t>
            </a:r>
            <a:endParaRPr lang="en-US" dirty="0">
              <a:latin typeface="Gill Sans MT" panose="020B0502020104020203" pitchFamily="34" charset="0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8275320" y="2139696"/>
            <a:ext cx="323088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270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A missed churner (false negative) costs far more than a wasted outreach (false positive), so recall is prioritized within a 20% precision floor.</a:t>
            </a:r>
            <a:endParaRPr lang="en-US" sz="1600" dirty="0">
              <a:latin typeface="Gill Sans MT" panose="020B0502020104020203" pitchFamily="34" charset="0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457200" y="3886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Gill Sans MT" panose="020B0502020104020203" pitchFamily="34" charset="0"/>
                <a:ea typeface="Cambria" pitchFamily="34" charset="-122"/>
                <a:cs typeface="Cambria" pitchFamily="34" charset="-120"/>
              </a:rPr>
              <a:t>Models compared</a:t>
            </a:r>
            <a:endParaRPr lang="en-US" dirty="0">
              <a:latin typeface="Gill Sans MT" panose="020B0502020104020203" pitchFamily="34" charset="0"/>
            </a:endParaRPr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136755"/>
              </p:ext>
            </p:extLst>
          </p:nvPr>
        </p:nvGraphicFramePr>
        <p:xfrm>
          <a:off x="457200" y="4297680"/>
          <a:ext cx="11274552" cy="17373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449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Gill Sans MT" panose="020B0502020104020203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600" dirty="0">
                        <a:latin typeface="Gill Sans MT" panose="020B0502020104020203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Gill Sans MT" panose="020B0502020104020203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600" dirty="0">
                        <a:latin typeface="Gill Sans MT" panose="020B0502020104020203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Gill Sans MT" panose="020B0502020104020203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1600" dirty="0">
                        <a:latin typeface="Gill Sans MT" panose="020B0502020104020203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Gill Sans MT" panose="020B0502020104020203" pitchFamily="34" charset="0"/>
                          <a:ea typeface="Calibri" pitchFamily="34" charset="-122"/>
                          <a:cs typeface="Calibri" pitchFamily="34" charset="-120"/>
                        </a:rPr>
                        <a:t>Logistic Regression</a:t>
                      </a:r>
                      <a:endParaRPr lang="en-US" sz="1600" dirty="0">
                        <a:latin typeface="Gill Sans MT" panose="020B0502020104020203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Gill Sans MT" panose="020B0502020104020203" pitchFamily="34" charset="0"/>
                          <a:ea typeface="Calibri" pitchFamily="34" charset="-122"/>
                          <a:cs typeface="Calibri" pitchFamily="34" charset="-120"/>
                        </a:rPr>
                        <a:t>RobustScaler + tuned class weight, threshold selected within cost sweep</a:t>
                      </a:r>
                      <a:endParaRPr lang="en-US" sz="1600" dirty="0">
                        <a:latin typeface="Gill Sans MT" panose="020B0502020104020203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Gill Sans MT" panose="020B0502020104020203" pitchFamily="34" charset="0"/>
                          <a:ea typeface="Calibri" pitchFamily="34" charset="-122"/>
                          <a:cs typeface="Calibri" pitchFamily="34" charset="-120"/>
                        </a:rPr>
                        <a:t>Selected — higher recall at the 20% precision cap</a:t>
                      </a:r>
                      <a:endParaRPr lang="en-US" sz="1600" dirty="0">
                        <a:latin typeface="Gill Sans MT" panose="020B0502020104020203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Gill Sans MT" panose="020B0502020104020203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600" dirty="0">
                        <a:latin typeface="Gill Sans MT" panose="020B0502020104020203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Gill Sans MT" panose="020B0502020104020203" pitchFamily="34" charset="0"/>
                          <a:ea typeface="Calibri" pitchFamily="34" charset="-122"/>
                          <a:cs typeface="Calibri" pitchFamily="34" charset="-120"/>
                        </a:rPr>
                        <a:t>Equivalent class weight (scale_pos_weight), thresholds 0.3–0.7</a:t>
                      </a:r>
                      <a:endParaRPr lang="en-US" sz="1600" dirty="0">
                        <a:latin typeface="Gill Sans MT" panose="020B0502020104020203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Gill Sans MT" panose="020B0502020104020203" pitchFamily="34" charset="0"/>
                          <a:ea typeface="Calibri" pitchFamily="34" charset="-122"/>
                          <a:cs typeface="Calibri" pitchFamily="34" charset="-120"/>
                        </a:rPr>
                        <a:t>Underperformed — likely limited by the small feature set</a:t>
                      </a:r>
                      <a:endParaRPr lang="en-US" sz="1600" dirty="0">
                        <a:latin typeface="Gill Sans MT" panose="020B0502020104020203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270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Model Development</a:t>
            </a:r>
            <a:endParaRPr lang="en-US" sz="1000" dirty="0">
              <a:latin typeface="Gill Sans MT" panose="020B0502020104020203" pitchFamily="34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8686800" y="6519672"/>
            <a:ext cx="3044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UrbanCart Churn Prediction</a:t>
            </a:r>
            <a:endParaRPr lang="en-US" sz="1000" dirty="0">
              <a:latin typeface="Gill Sans MT" panose="020B0502020104020203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Gill Sans MT" panose="020B0502020104020203" pitchFamily="34" charset="0"/>
                <a:ea typeface="Cambria" pitchFamily="34" charset="-122"/>
                <a:cs typeface="Cambria" pitchFamily="34" charset="-120"/>
              </a:rPr>
              <a:t>Model Results — Validation &amp; Test</a:t>
            </a:r>
            <a:endParaRPr lang="en-US" sz="3000" dirty="0">
              <a:latin typeface="Gill Sans MT" panose="020B0502020104020203" pitchFamily="34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5B6270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Final Logistic Regression, evaluated at the chosen decision threshold</a:t>
            </a:r>
            <a:endParaRPr lang="en-US" dirty="0">
              <a:latin typeface="Gill Sans MT" panose="020B0502020104020203" pitchFamily="34" charset="0"/>
            </a:endParaRPr>
          </a:p>
        </p:txBody>
      </p:sp>
      <p:pic>
        <p:nvPicPr>
          <p:cNvPr id="4" name="Image 0" descr="imgs/cell7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91640"/>
            <a:ext cx="7406640" cy="3035808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1120922"/>
              </p:ext>
            </p:extLst>
          </p:nvPr>
        </p:nvGraphicFramePr>
        <p:xfrm>
          <a:off x="8229600" y="1783080"/>
          <a:ext cx="3502152" cy="2846832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92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84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Gill Sans MT" panose="020B0502020104020203" pitchFamily="34" charset="0"/>
                          <a:ea typeface="Calibri" pitchFamily="34" charset="-122"/>
                          <a:cs typeface="Calibri" pitchFamily="34" charset="-120"/>
                        </a:rPr>
                        <a:t>Metric (churn class)</a:t>
                      </a:r>
                      <a:endParaRPr lang="en-US" sz="1200" dirty="0">
                        <a:latin typeface="Gill Sans MT" panose="020B0502020104020203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Gill Sans MT" panose="020B0502020104020203" pitchFamily="34" charset="0"/>
                          <a:ea typeface="Calibri" pitchFamily="34" charset="-122"/>
                          <a:cs typeface="Calibri" pitchFamily="34" charset="-120"/>
                        </a:rPr>
                        <a:t>Validation</a:t>
                      </a:r>
                      <a:endParaRPr lang="en-US" sz="1200" dirty="0">
                        <a:latin typeface="Gill Sans MT" panose="020B0502020104020203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Gill Sans MT" panose="020B0502020104020203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200" dirty="0">
                        <a:latin typeface="Gill Sans MT" panose="020B0502020104020203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>
                          <a:solidFill>
                            <a:srgbClr val="1E2761"/>
                          </a:solidFill>
                          <a:latin typeface="Gill Sans MT" panose="020B0502020104020203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600" dirty="0">
                        <a:latin typeface="Gill Sans MT" panose="020B0502020104020203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rgbClr val="1E2761"/>
                          </a:solidFill>
                          <a:latin typeface="Gill Sans MT" panose="020B0502020104020203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600" dirty="0">
                        <a:latin typeface="Gill Sans MT" panose="020B0502020104020203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rgbClr val="1E2761"/>
                          </a:solidFill>
                          <a:latin typeface="Gill Sans MT" panose="020B0502020104020203" pitchFamily="34" charset="0"/>
                          <a:ea typeface="Calibri" pitchFamily="34" charset="-122"/>
                          <a:cs typeface="Calibri" pitchFamily="34" charset="-120"/>
                        </a:rPr>
                        <a:t>22%</a:t>
                      </a:r>
                      <a:endParaRPr lang="en-US" sz="1600" dirty="0">
                        <a:latin typeface="Gill Sans MT" panose="020B0502020104020203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>
                          <a:solidFill>
                            <a:srgbClr val="1E2761"/>
                          </a:solidFill>
                          <a:latin typeface="Gill Sans MT" panose="020B0502020104020203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600" dirty="0">
                        <a:latin typeface="Gill Sans MT" panose="020B0502020104020203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rgbClr val="1E2761"/>
                          </a:solidFill>
                          <a:latin typeface="Gill Sans MT" panose="020B0502020104020203" pitchFamily="34" charset="0"/>
                          <a:ea typeface="Calibri" pitchFamily="34" charset="-122"/>
                          <a:cs typeface="Calibri" pitchFamily="34" charset="-120"/>
                        </a:rPr>
                        <a:t>58%</a:t>
                      </a:r>
                      <a:endParaRPr lang="en-US" sz="1600" dirty="0">
                        <a:latin typeface="Gill Sans MT" panose="020B0502020104020203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rgbClr val="1E2761"/>
                          </a:solidFill>
                          <a:latin typeface="Gill Sans MT" panose="020B0502020104020203" pitchFamily="34" charset="0"/>
                          <a:ea typeface="Calibri" pitchFamily="34" charset="-122"/>
                          <a:cs typeface="Calibri" pitchFamily="34" charset="-120"/>
                        </a:rPr>
                        <a:t>61%</a:t>
                      </a:r>
                      <a:endParaRPr lang="en-US" sz="1600" dirty="0">
                        <a:latin typeface="Gill Sans MT" panose="020B0502020104020203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 err="1">
                          <a:solidFill>
                            <a:srgbClr val="1E2761"/>
                          </a:solidFill>
                          <a:latin typeface="Gill Sans MT" panose="020B0502020104020203" pitchFamily="34" charset="0"/>
                          <a:ea typeface="Calibri" pitchFamily="34" charset="-122"/>
                          <a:cs typeface="Calibri" pitchFamily="34" charset="-120"/>
                        </a:rPr>
                        <a:t>Fbeta</a:t>
                      </a:r>
                      <a:r>
                        <a:rPr lang="en-US" sz="1600" dirty="0">
                          <a:solidFill>
                            <a:srgbClr val="1E2761"/>
                          </a:solidFill>
                          <a:latin typeface="Gill Sans MT" panose="020B0502020104020203" pitchFamily="34" charset="0"/>
                          <a:ea typeface="Calibri" pitchFamily="34" charset="-122"/>
                          <a:cs typeface="Calibri" pitchFamily="34" charset="-120"/>
                        </a:rPr>
                        <a:t>-score</a:t>
                      </a:r>
                      <a:endParaRPr lang="en-US" sz="1600" dirty="0">
                        <a:latin typeface="Gill Sans MT" panose="020B0502020104020203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Gill Sans MT" panose="020B0502020104020203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600" dirty="0">
                        <a:latin typeface="Gill Sans MT" panose="020B0502020104020203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rgbClr val="1E2761"/>
                          </a:solidFill>
                          <a:latin typeface="Gill Sans MT" panose="020B0502020104020203" pitchFamily="34" charset="0"/>
                          <a:ea typeface="Calibri" pitchFamily="34" charset="-122"/>
                          <a:cs typeface="Calibri" pitchFamily="34" charset="-120"/>
                        </a:rPr>
                        <a:t>0.45</a:t>
                      </a:r>
                      <a:endParaRPr lang="en-US" sz="1600" dirty="0">
                        <a:latin typeface="Gill Sans MT" panose="020B0502020104020203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>
                          <a:solidFill>
                            <a:srgbClr val="1E2761"/>
                          </a:solidFill>
                          <a:latin typeface="Gill Sans MT" panose="020B0502020104020203" pitchFamily="34" charset="0"/>
                          <a:ea typeface="Calibri" pitchFamily="34" charset="-122"/>
                          <a:cs typeface="Calibri" pitchFamily="34" charset="-120"/>
                        </a:rPr>
                        <a:t>Overall accuracy</a:t>
                      </a:r>
                      <a:endParaRPr lang="en-US" sz="1600" dirty="0">
                        <a:latin typeface="Gill Sans MT" panose="020B0502020104020203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rgbClr val="1E2761"/>
                          </a:solidFill>
                          <a:latin typeface="Gill Sans MT" panose="020B0502020104020203" pitchFamily="34" charset="0"/>
                          <a:ea typeface="Calibri" pitchFamily="34" charset="-122"/>
                          <a:cs typeface="Calibri" pitchFamily="34" charset="-120"/>
                        </a:rPr>
                        <a:t>78%</a:t>
                      </a:r>
                      <a:endParaRPr lang="en-US" sz="1600" dirty="0">
                        <a:latin typeface="Gill Sans MT" panose="020B0502020104020203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Gill Sans MT" panose="020B0502020104020203" pitchFamily="34" charset="0"/>
                          <a:ea typeface="Calibri" pitchFamily="34" charset="-122"/>
                          <a:cs typeface="Calibri" pitchFamily="34" charset="-120"/>
                        </a:rPr>
                        <a:t>79%</a:t>
                      </a:r>
                      <a:endParaRPr lang="en-US" sz="1600" dirty="0">
                        <a:latin typeface="Gill Sans MT" panose="020B0502020104020203" pitchFamily="34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4983480"/>
            <a:ext cx="11183112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868680" y="5138928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Test performance (61% recall, 22% precision) is slightly better than validation, confirming the model is not overfit to the validation set.</a:t>
            </a:r>
            <a:endParaRPr lang="en-US" dirty="0">
              <a:latin typeface="Gill Sans MT" panose="020B0502020104020203" pitchFamily="34" charset="0"/>
            </a:endParaRPr>
          </a:p>
        </p:txBody>
      </p:sp>
      <p:sp>
        <p:nvSpPr>
          <p:cNvPr id="8" name="Text 4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270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Model Results</a:t>
            </a:r>
            <a:endParaRPr lang="en-US" sz="1000" dirty="0">
              <a:latin typeface="Gill Sans MT" panose="020B0502020104020203" pitchFamily="34" charset="0"/>
            </a:endParaRPr>
          </a:p>
        </p:txBody>
      </p:sp>
      <p:sp>
        <p:nvSpPr>
          <p:cNvPr id="5" name="Text 5"/>
          <p:cNvSpPr/>
          <p:nvPr/>
        </p:nvSpPr>
        <p:spPr>
          <a:xfrm>
            <a:off x="8686800" y="6519672"/>
            <a:ext cx="3044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UrbanCart Churn Prediction</a:t>
            </a:r>
            <a:endParaRPr lang="en-US" sz="1000" dirty="0">
              <a:latin typeface="Gill Sans MT" panose="020B0502020104020203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Gill Sans MT" panose="020B0502020104020203" pitchFamily="34" charset="0"/>
                <a:ea typeface="Cambria" pitchFamily="34" charset="-122"/>
                <a:cs typeface="Cambria" pitchFamily="34" charset="-120"/>
              </a:rPr>
              <a:t>What Drives the Model</a:t>
            </a:r>
            <a:endParaRPr lang="en-US" sz="3000" dirty="0">
              <a:latin typeface="Gill Sans MT" panose="020B0502020104020203" pitchFamily="34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5B6270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Feature importance and the precision–recall tradeoff behind the chosen threshold</a:t>
            </a:r>
            <a:endParaRPr lang="en-US" dirty="0">
              <a:latin typeface="Gill Sans MT" panose="020B0502020104020203" pitchFamily="34" charset="0"/>
            </a:endParaRPr>
          </a:p>
        </p:txBody>
      </p:sp>
      <p:pic>
        <p:nvPicPr>
          <p:cNvPr id="4" name="Image 0" descr="imgs/cell73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0"/>
            <a:ext cx="5943600" cy="3566160"/>
          </a:xfrm>
          <a:prstGeom prst="rect">
            <a:avLst/>
          </a:prstGeom>
        </p:spPr>
      </p:pic>
      <p:pic>
        <p:nvPicPr>
          <p:cNvPr id="5" name="Image 1" descr="imgs/cell74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1645920"/>
            <a:ext cx="5029200" cy="4206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5349240"/>
            <a:ext cx="5943600" cy="1051560"/>
          </a:xfrm>
          <a:prstGeom prst="roundRect">
            <a:avLst>
              <a:gd name="adj" fmla="val 6957"/>
            </a:avLst>
          </a:prstGeom>
          <a:solidFill>
            <a:srgbClr val="F4F6FB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685800" y="5440680"/>
            <a:ext cx="5486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E2761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SupportTicketsFiled, recency_tenure_ratio and DaysSinceLastOrder push predictions toward churn; MonthsActive and order volume push the other way.</a:t>
            </a:r>
            <a:endParaRPr lang="en-US" sz="1600" dirty="0">
              <a:latin typeface="Gill Sans MT" panose="020B0502020104020203" pitchFamily="34" charset="0"/>
            </a:endParaRPr>
          </a:p>
        </p:txBody>
      </p:sp>
      <p:sp>
        <p:nvSpPr>
          <p:cNvPr id="8" name="Text 4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270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Model Results</a:t>
            </a:r>
            <a:endParaRPr lang="en-US" sz="1000" dirty="0">
              <a:latin typeface="Gill Sans MT" panose="020B0502020104020203" pitchFamily="34" charset="0"/>
            </a:endParaRPr>
          </a:p>
        </p:txBody>
      </p:sp>
      <p:sp>
        <p:nvSpPr>
          <p:cNvPr id="9" name="Text 5"/>
          <p:cNvSpPr/>
          <p:nvPr/>
        </p:nvSpPr>
        <p:spPr>
          <a:xfrm>
            <a:off x="8686800" y="6519672"/>
            <a:ext cx="3044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UrbanCart Churn Prediction</a:t>
            </a:r>
            <a:endParaRPr lang="en-US" sz="1000" dirty="0">
              <a:latin typeface="Gill Sans MT" panose="020B0502020104020203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ill Sans MT" panose="020B0502020104020203" pitchFamily="34" charset="0"/>
                <a:ea typeface="Cambria" pitchFamily="34" charset="-122"/>
                <a:cs typeface="Cambria" pitchFamily="34" charset="-120"/>
              </a:rPr>
              <a:t>Business Impact &amp; Recommendation</a:t>
            </a:r>
            <a:endParaRPr lang="en-US" sz="3000" dirty="0">
              <a:latin typeface="Gill Sans MT" panose="020B0502020104020203" pitchFamily="34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Per 3,000 customers scored, at the chosen 20% precision / 61% recall operating point</a:t>
            </a:r>
            <a:endParaRPr lang="en-US" sz="1600" dirty="0">
              <a:latin typeface="Gill Sans MT" panose="020B0502020104020203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27368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96596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4572E"/>
                </a:solidFill>
                <a:latin typeface="Gill Sans MT" panose="020B0502020104020203" pitchFamily="34" charset="0"/>
                <a:ea typeface="Cambria" pitchFamily="34" charset="-122"/>
                <a:cs typeface="Cambria" pitchFamily="34" charset="-120"/>
              </a:rPr>
              <a:t>~250</a:t>
            </a:r>
            <a:endParaRPr lang="en-US" sz="3000" dirty="0">
              <a:latin typeface="Gill Sans MT" panose="020B0502020104020203" pitchFamily="34" charset="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94360" y="269748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customers actually churn</a:t>
            </a:r>
            <a:endParaRPr lang="en-US" sz="1600" dirty="0">
              <a:latin typeface="Gill Sans MT" panose="020B0502020104020203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291840" y="178308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27368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91840" y="196596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4CAF50"/>
                </a:solidFill>
                <a:latin typeface="Gill Sans MT" panose="020B0502020104020203" pitchFamily="34" charset="0"/>
                <a:ea typeface="Cambria" pitchFamily="34" charset="-122"/>
                <a:cs typeface="Cambria" pitchFamily="34" charset="-120"/>
              </a:rPr>
              <a:t>~152</a:t>
            </a:r>
            <a:endParaRPr lang="en-US" sz="3000" dirty="0">
              <a:latin typeface="Gill Sans MT" panose="020B0502020104020203" pitchFamily="34" charset="0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3429000" y="269748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correctly flagged (61%)</a:t>
            </a:r>
            <a:endParaRPr lang="en-US" sz="1600" dirty="0">
              <a:latin typeface="Gill Sans MT" panose="020B0502020104020203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126480" y="178308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27368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126480" y="196596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4572E"/>
                </a:solidFill>
                <a:latin typeface="Gill Sans MT" panose="020B0502020104020203" pitchFamily="34" charset="0"/>
                <a:ea typeface="Cambria" pitchFamily="34" charset="-122"/>
                <a:cs typeface="Cambria" pitchFamily="34" charset="-120"/>
              </a:rPr>
              <a:t>~98</a:t>
            </a:r>
            <a:endParaRPr lang="en-US" sz="3000" dirty="0">
              <a:latin typeface="Gill Sans MT" panose="020B0502020104020203" pitchFamily="34" charset="0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263640" y="269748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Missed, the costly errors</a:t>
            </a:r>
            <a:endParaRPr lang="en-US" sz="1600" dirty="0">
              <a:latin typeface="Gill Sans MT" panose="020B0502020104020203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8961120" y="178308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27368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961120" y="196596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ADCFC"/>
                </a:solidFill>
                <a:latin typeface="Gill Sans MT" panose="020B0502020104020203" pitchFamily="34" charset="0"/>
                <a:ea typeface="Cambria" pitchFamily="34" charset="-122"/>
                <a:cs typeface="Cambria" pitchFamily="34" charset="-120"/>
              </a:rPr>
              <a:t>~550</a:t>
            </a:r>
            <a:endParaRPr lang="en-US" sz="3000" dirty="0">
              <a:latin typeface="Gill Sans MT" panose="020B0502020104020203" pitchFamily="34" charset="0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9098280" y="269748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false alarms, within team capacity</a:t>
            </a:r>
            <a:endParaRPr lang="en-US" sz="1600" dirty="0">
              <a:latin typeface="Gill Sans MT" panose="020B0502020104020203" pitchFamily="34" charset="0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457200" y="3749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E4572E"/>
                </a:solidFill>
                <a:latin typeface="Gill Sans MT" panose="020B0502020104020203" pitchFamily="34" charset="0"/>
                <a:ea typeface="Cambria" pitchFamily="34" charset="-122"/>
                <a:cs typeface="Cambria" pitchFamily="34" charset="-120"/>
              </a:rPr>
              <a:t>Recommendation</a:t>
            </a:r>
            <a:endParaRPr lang="en-US" dirty="0">
              <a:latin typeface="Gill Sans MT" panose="020B0502020104020203" pitchFamily="34" charset="0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457200" y="416052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Deploy the Logistic Regression model to flag customers weekly using DaysSinceLastOrder, recency_tenure_ratio, and SupportTicketsFiled as the leading signals</a:t>
            </a:r>
            <a:endParaRPr lang="en-US" sz="1600" dirty="0">
              <a:latin typeface="Gill Sans MT" panose="020B0502020104020203" pitchFamily="34" charset="0"/>
            </a:endParaRP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Operate at the tuned threshold (20% precision floor), optimizing for accuracy or precision alone would let far more expensive churners slip through undetected</a:t>
            </a:r>
            <a:endParaRPr lang="en-US" sz="1600" dirty="0">
              <a:latin typeface="Gill Sans MT" panose="020B0502020104020203" pitchFamily="34" charset="0"/>
            </a:endParaRP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Revisit with richer features, the limited feature set likely caps current performance, and explains why XGBoost underperformed Logistic Regression</a:t>
            </a:r>
            <a:endParaRPr lang="en-US" sz="1600" dirty="0">
              <a:latin typeface="Gill Sans MT" panose="020B0502020104020203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ADCFC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Business Impact &amp; Recommendation</a:t>
            </a:r>
            <a:endParaRPr lang="en-US" sz="1000" dirty="0">
              <a:latin typeface="Gill Sans MT" panose="020B0502020104020203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686800" y="6519672"/>
            <a:ext cx="3044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ADCFC"/>
                </a:solidFill>
                <a:latin typeface="Gill Sans MT" panose="020B0502020104020203" pitchFamily="34" charset="0"/>
                <a:ea typeface="Calibri" pitchFamily="34" charset="-122"/>
                <a:cs typeface="Calibri" pitchFamily="34" charset="-120"/>
              </a:rPr>
              <a:t>UrbanCart Churn Prediction</a:t>
            </a:r>
            <a:endParaRPr lang="en-US" sz="1000" dirty="0">
              <a:latin typeface="Gill Sans MT" panose="020B0502020104020203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929</Words>
  <Application>Microsoft Office PowerPoint</Application>
  <PresentationFormat>Widescreen</PresentationFormat>
  <Paragraphs>140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Gill Sans MT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Obinna Muonanu</cp:lastModifiedBy>
  <cp:revision>3</cp:revision>
  <dcterms:created xsi:type="dcterms:W3CDTF">2026-09-21T04:17:48Z</dcterms:created>
  <dcterms:modified xsi:type="dcterms:W3CDTF">2026-09-21T05:40:16Z</dcterms:modified>
</cp:coreProperties>
</file>